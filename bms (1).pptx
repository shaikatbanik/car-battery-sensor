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al MT Pro Italics" panose="020B0604020202020204" charset="0"/>
      <p:regular r:id="rId13"/>
    </p:embeddedFont>
    <p:embeddedFont>
      <p:font typeface="Montserrat" panose="00000500000000000000" pitchFamily="2" charset="0"/>
      <p:regular r:id="rId14"/>
    </p:embeddedFont>
    <p:embeddedFont>
      <p:font typeface="Nunito" pitchFamily="2" charset="0"/>
      <p:regular r:id="rId15"/>
    </p:embeddedFont>
    <p:embeddedFont>
      <p:font typeface="Nunito Bold" panose="020B0604020202020204" charset="0"/>
      <p:regular r:id="rId16"/>
    </p:embeddedFont>
    <p:embeddedFont>
      <p:font typeface="Open Sans 1 Bold" panose="020B0604020202020204" charset="0"/>
      <p:regular r:id="rId17"/>
    </p:embeddedFont>
    <p:embeddedFont>
      <p:font typeface="Open Sans 2 Bold" panose="020B0604020202020204" charset="0"/>
      <p:regular r:id="rId18"/>
    </p:embeddedFont>
    <p:embeddedFont>
      <p:font typeface="Proxima Nova Bold" panose="020B0604020202020204" charset="0"/>
      <p:regular r:id="rId19"/>
    </p:embeddedFont>
    <p:embeddedFont>
      <p:font typeface="Tomorrow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95961" y="5935345"/>
            <a:ext cx="8126677" cy="8126677"/>
          </a:xfrm>
          <a:custGeom>
            <a:avLst/>
            <a:gdLst/>
            <a:ahLst/>
            <a:cxnLst/>
            <a:rect l="l" t="t" r="r" b="b"/>
            <a:pathLst>
              <a:path w="8126677" h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50137" y="-174299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94970" y="-138782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97411" y="6636795"/>
            <a:ext cx="6723778" cy="6723778"/>
          </a:xfrm>
          <a:custGeom>
            <a:avLst/>
            <a:gdLst/>
            <a:ahLst/>
            <a:cxnLst/>
            <a:rect l="l" t="t" r="r" b="b"/>
            <a:pathLst>
              <a:path w="6723778" h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876906" y="7616290"/>
            <a:ext cx="4764788" cy="476478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99020" y="-891876"/>
            <a:ext cx="2412567" cy="24125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0046" y="3347470"/>
            <a:ext cx="17580737" cy="142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47"/>
              </a:lnSpc>
            </a:pPr>
            <a:r>
              <a:rPr lang="en-US" sz="8319" b="1">
                <a:solidFill>
                  <a:srgbClr val="0C357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BATTERY MANAGEMENT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790327"/>
            <a:ext cx="15615860" cy="114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3"/>
              </a:lnSpc>
            </a:pPr>
            <a:r>
              <a:rPr lang="en-US" sz="3295" b="1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 smart monitoring approach to predict battery health, aging, and failure risk before issues occur on the road.</a:t>
            </a:r>
          </a:p>
        </p:txBody>
      </p:sp>
      <p:sp>
        <p:nvSpPr>
          <p:cNvPr id="14" name="Freeform 14"/>
          <p:cNvSpPr/>
          <p:nvPr/>
        </p:nvSpPr>
        <p:spPr>
          <a:xfrm>
            <a:off x="-1776086" y="6919981"/>
            <a:ext cx="5883488" cy="5883488"/>
          </a:xfrm>
          <a:custGeom>
            <a:avLst/>
            <a:gdLst/>
            <a:ahLst/>
            <a:cxnLst/>
            <a:rect l="l" t="t" r="r" b="b"/>
            <a:pathLst>
              <a:path w="5883488" h="5883488">
                <a:moveTo>
                  <a:pt x="0" y="0"/>
                </a:moveTo>
                <a:lnTo>
                  <a:pt x="5883488" y="0"/>
                </a:lnTo>
                <a:lnTo>
                  <a:pt x="5883488" y="5883488"/>
                </a:lnTo>
                <a:lnTo>
                  <a:pt x="0" y="58834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268256" y="7427811"/>
            <a:ext cx="4867828" cy="4867828"/>
          </a:xfrm>
          <a:custGeom>
            <a:avLst/>
            <a:gdLst/>
            <a:ahLst/>
            <a:cxnLst/>
            <a:rect l="l" t="t" r="r" b="b"/>
            <a:pathLst>
              <a:path w="4867828" h="4867828">
                <a:moveTo>
                  <a:pt x="0" y="0"/>
                </a:moveTo>
                <a:lnTo>
                  <a:pt x="4867828" y="0"/>
                </a:lnTo>
                <a:lnTo>
                  <a:pt x="4867828" y="4867828"/>
                </a:lnTo>
                <a:lnTo>
                  <a:pt x="0" y="48678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-559129" y="8136938"/>
            <a:ext cx="3449574" cy="344957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36890" y="1334244"/>
            <a:ext cx="1178155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 u="sng">
                <a:solidFill>
                  <a:srgbClr val="0C357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PROJECT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0273" y="4123711"/>
            <a:ext cx="14850871" cy="35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87"/>
              </a:lnSpc>
            </a:pPr>
            <a:r>
              <a:rPr lang="en-US" sz="406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We are developing a predictive prototype that monitors key systems in a vehicle and alerts the driver before failures occur. In this project, we are focusing on the Battery Management System (BMS), which is the most critical and foundational component.</a:t>
            </a:r>
          </a:p>
        </p:txBody>
      </p:sp>
      <p:sp>
        <p:nvSpPr>
          <p:cNvPr id="6" name="Freeform 6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357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357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485436" y="3021723"/>
            <a:ext cx="11360546" cy="48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2857" b="1">
                <a:solidFill>
                  <a:srgbClr val="0C3571"/>
                </a:solidFill>
                <a:latin typeface="Nunito Bold"/>
                <a:ea typeface="Nunito Bold"/>
                <a:cs typeface="Nunito Bold"/>
                <a:sym typeface="Nunito Bold"/>
              </a:rPr>
              <a:t>WHAT ARE WE BUILDING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117048" y="194685"/>
            <a:ext cx="1178155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 u="sng">
                <a:solidFill>
                  <a:srgbClr val="0C357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SUB-SECTIONS</a:t>
            </a:r>
          </a:p>
        </p:txBody>
      </p:sp>
      <p:sp>
        <p:nvSpPr>
          <p:cNvPr id="5" name="Freeform 5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674304" y="9603232"/>
            <a:ext cx="3911463" cy="3911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357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357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-1942615" y="1973404"/>
            <a:ext cx="8143998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0C3571"/>
                </a:solidFill>
                <a:latin typeface="Tomorrow"/>
                <a:ea typeface="Tomorrow"/>
                <a:cs typeface="Tomorrow"/>
                <a:sym typeface="Tomorrow"/>
              </a:rPr>
              <a:t>GOAL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945" y="4431894"/>
            <a:ext cx="8012342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>
                <a:solidFill>
                  <a:srgbClr val="0C3571"/>
                </a:solidFill>
                <a:latin typeface="Tomorrow"/>
                <a:ea typeface="Tomorrow"/>
                <a:cs typeface="Tomorrow"/>
                <a:sym typeface="Tomorrow"/>
              </a:rPr>
              <a:t>CURRENT SCOPE 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1045785" y="7086600"/>
            <a:ext cx="8012342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>
                <a:solidFill>
                  <a:srgbClr val="0C3571"/>
                </a:solidFill>
                <a:latin typeface="Tomorrow"/>
                <a:ea typeface="Tomorrow"/>
                <a:cs typeface="Tomorrow"/>
                <a:sym typeface="Tomorrow"/>
              </a:rPr>
              <a:t>OUTCOME 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5218" y="2938212"/>
            <a:ext cx="15093574" cy="1607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482" lvl="1" indent="-346241" algn="l">
              <a:lnSpc>
                <a:spcPts val="4490"/>
              </a:lnSpc>
              <a:buFont typeface="Arial"/>
              <a:buChar char="•"/>
            </a:pPr>
            <a:r>
              <a:rPr lang="en-US" sz="3207">
                <a:solidFill>
                  <a:srgbClr val="0C3571"/>
                </a:solidFill>
                <a:latin typeface="Montserrat"/>
                <a:ea typeface="Montserrat"/>
                <a:cs typeface="Montserrat"/>
                <a:sym typeface="Montserrat"/>
              </a:rPr>
              <a:t>Predict battery problems early</a:t>
            </a:r>
          </a:p>
          <a:p>
            <a:pPr marL="692482" lvl="1" indent="-346241" algn="l">
              <a:lnSpc>
                <a:spcPts val="4490"/>
              </a:lnSpc>
              <a:buFont typeface="Arial"/>
              <a:buChar char="•"/>
            </a:pPr>
            <a:r>
              <a:rPr lang="en-US" sz="3207">
                <a:solidFill>
                  <a:srgbClr val="0C3571"/>
                </a:solidFill>
                <a:latin typeface="Montserrat"/>
                <a:ea typeface="Montserrat"/>
                <a:cs typeface="Montserrat"/>
                <a:sym typeface="Montserrat"/>
              </a:rPr>
              <a:t>Use real-time battery health %, temperature, and charge cycle data</a:t>
            </a:r>
          </a:p>
          <a:p>
            <a:pPr algn="ctr">
              <a:lnSpc>
                <a:spcPts val="4101"/>
              </a:lnSpc>
            </a:pPr>
            <a:endParaRPr lang="en-US" sz="3207">
              <a:solidFill>
                <a:srgbClr val="0C357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85218" y="8170545"/>
            <a:ext cx="15093574" cy="1607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482" lvl="1" indent="-346241" algn="l">
              <a:lnSpc>
                <a:spcPts val="4490"/>
              </a:lnSpc>
              <a:buFont typeface="Arial"/>
              <a:buChar char="•"/>
            </a:pPr>
            <a:r>
              <a:rPr lang="en-US" sz="3207">
                <a:solidFill>
                  <a:srgbClr val="0C3571"/>
                </a:solidFill>
                <a:latin typeface="Montserrat"/>
                <a:ea typeface="Montserrat"/>
                <a:cs typeface="Montserrat"/>
                <a:sym typeface="Montserrat"/>
              </a:rPr>
              <a:t>A clear State of Health (SOH) value</a:t>
            </a:r>
          </a:p>
          <a:p>
            <a:pPr marL="692482" lvl="1" indent="-346241" algn="l">
              <a:lnSpc>
                <a:spcPts val="4490"/>
              </a:lnSpc>
              <a:buFont typeface="Arial"/>
              <a:buChar char="•"/>
            </a:pPr>
            <a:r>
              <a:rPr lang="en-US" sz="3207">
                <a:solidFill>
                  <a:srgbClr val="0C3571"/>
                </a:solidFill>
                <a:latin typeface="Montserrat"/>
                <a:ea typeface="Montserrat"/>
                <a:cs typeface="Montserrat"/>
                <a:sym typeface="Montserrat"/>
              </a:rPr>
              <a:t>Helps understand battery condition at any moment</a:t>
            </a:r>
          </a:p>
          <a:p>
            <a:pPr algn="ctr">
              <a:lnSpc>
                <a:spcPts val="4101"/>
              </a:lnSpc>
            </a:pPr>
            <a:endParaRPr lang="en-US" sz="3207">
              <a:solidFill>
                <a:srgbClr val="0C357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85218" y="5496789"/>
            <a:ext cx="15093574" cy="1607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482" lvl="1" indent="-346241" algn="l">
              <a:lnSpc>
                <a:spcPts val="4490"/>
              </a:lnSpc>
              <a:buFont typeface="Arial"/>
              <a:buChar char="•"/>
            </a:pPr>
            <a:r>
              <a:rPr lang="en-US" sz="3207">
                <a:solidFill>
                  <a:srgbClr val="0C3571"/>
                </a:solidFill>
                <a:latin typeface="Montserrat"/>
                <a:ea typeface="Montserrat"/>
                <a:cs typeface="Montserrat"/>
                <a:sym typeface="Montserrat"/>
              </a:rPr>
              <a:t>BMS module is implemented</a:t>
            </a:r>
          </a:p>
          <a:p>
            <a:pPr marL="692482" lvl="1" indent="-346241" algn="l">
              <a:lnSpc>
                <a:spcPts val="4490"/>
              </a:lnSpc>
              <a:buFont typeface="Arial"/>
              <a:buChar char="•"/>
            </a:pPr>
            <a:r>
              <a:rPr lang="en-US" sz="3207">
                <a:solidFill>
                  <a:srgbClr val="0C3571"/>
                </a:solidFill>
                <a:latin typeface="Montserrat"/>
                <a:ea typeface="Montserrat"/>
                <a:cs typeface="Montserrat"/>
                <a:sym typeface="Montserrat"/>
              </a:rPr>
              <a:t>Other systems (engine, brakes, tyres) will be added later</a:t>
            </a:r>
          </a:p>
          <a:p>
            <a:pPr algn="ctr">
              <a:lnSpc>
                <a:spcPts val="4101"/>
              </a:lnSpc>
            </a:pPr>
            <a:endParaRPr lang="en-US" sz="3207">
              <a:solidFill>
                <a:srgbClr val="0C357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136559"/>
            <a:ext cx="4033204" cy="403320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9385" y="1169404"/>
            <a:ext cx="16569900" cy="1194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2"/>
              </a:lnSpc>
            </a:pPr>
            <a:r>
              <a:rPr lang="en-US" sz="6987" b="1" u="sng">
                <a:solidFill>
                  <a:srgbClr val="0C357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IMPORTANCE OF BATTERY HEALTH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7445" y="3081529"/>
            <a:ext cx="17809062" cy="685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8004" lvl="1" indent="-519002" algn="just">
              <a:lnSpc>
                <a:spcPts val="9375"/>
              </a:lnSpc>
              <a:buFont typeface="Arial"/>
              <a:buChar char="•"/>
            </a:pPr>
            <a:r>
              <a:rPr lang="en-US" sz="480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Around 70% of EV system failures are related to batteries</a:t>
            </a:r>
          </a:p>
          <a:p>
            <a:pPr marL="1038004" lvl="1" indent="-519002" algn="just">
              <a:lnSpc>
                <a:spcPts val="9375"/>
              </a:lnSpc>
              <a:buFont typeface="Arial"/>
              <a:buChar char="•"/>
            </a:pPr>
            <a:r>
              <a:rPr lang="en-US" sz="480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Battery issues can directly affect performance and safety</a:t>
            </a:r>
          </a:p>
          <a:p>
            <a:pPr marL="1038004" lvl="1" indent="-519002" algn="just">
              <a:lnSpc>
                <a:spcPts val="9375"/>
              </a:lnSpc>
              <a:buFont typeface="Arial"/>
              <a:buChar char="•"/>
            </a:pPr>
            <a:r>
              <a:rPr lang="en-US" sz="480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Early detection helps avoid sudden breakdowns</a:t>
            </a:r>
          </a:p>
          <a:p>
            <a:pPr marL="1038004" lvl="1" indent="-519002" algn="just">
              <a:lnSpc>
                <a:spcPts val="9375"/>
              </a:lnSpc>
              <a:buFont typeface="Arial"/>
              <a:buChar char="•"/>
            </a:pPr>
            <a:r>
              <a:rPr lang="en-US" sz="480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Helps drivers understand risks in advance</a:t>
            </a:r>
          </a:p>
          <a:p>
            <a:pPr marL="1038004" lvl="1" indent="-519002" algn="just">
              <a:lnSpc>
                <a:spcPts val="9375"/>
              </a:lnSpc>
              <a:buFont typeface="Arial"/>
              <a:buChar char="•"/>
            </a:pPr>
            <a:r>
              <a:rPr lang="en-US" sz="480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Improves overall reliability of the vehicle</a:t>
            </a:r>
          </a:p>
          <a:p>
            <a:pPr algn="just">
              <a:lnSpc>
                <a:spcPts val="7670"/>
              </a:lnSpc>
            </a:pPr>
            <a:endParaRPr lang="en-US" sz="4807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2190255" y="-2871145"/>
            <a:ext cx="3911463" cy="391146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241445" y="899535"/>
            <a:ext cx="11578881" cy="139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2"/>
              </a:lnSpc>
            </a:pPr>
            <a:r>
              <a:rPr lang="en-US" sz="8201" b="1" u="sng">
                <a:solidFill>
                  <a:srgbClr val="0C357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INPUT PARAMETERS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2736" y="2850575"/>
            <a:ext cx="17002528" cy="202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8"/>
              </a:lnSpc>
            </a:pPr>
            <a:r>
              <a:rPr lang="en-US" sz="3698" i="1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These parameters give a real-time view of how the battery is functioning. </a:t>
            </a:r>
          </a:p>
          <a:p>
            <a:pPr algn="ctr">
              <a:lnSpc>
                <a:spcPts val="5178"/>
              </a:lnSpc>
            </a:pPr>
            <a:r>
              <a:rPr lang="en-US" sz="3698" i="1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By analyzing them together, we can estimate battery health and detect potential issues early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0" y="5268711"/>
            <a:ext cx="11533189" cy="3989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2538" lvl="1" indent="-486269" algn="l">
              <a:lnSpc>
                <a:spcPts val="6306"/>
              </a:lnSpc>
              <a:buFont typeface="Arial"/>
              <a:buChar char="•"/>
            </a:pPr>
            <a:r>
              <a:rPr lang="en-US" sz="450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TEMPERATURE</a:t>
            </a:r>
          </a:p>
          <a:p>
            <a:pPr marL="972538" lvl="1" indent="-486269" algn="l">
              <a:lnSpc>
                <a:spcPts val="6306"/>
              </a:lnSpc>
              <a:buFont typeface="Arial"/>
              <a:buChar char="•"/>
            </a:pPr>
            <a:r>
              <a:rPr lang="en-US" sz="450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VOLTAGE</a:t>
            </a:r>
          </a:p>
          <a:p>
            <a:pPr marL="972538" lvl="1" indent="-486269" algn="l">
              <a:lnSpc>
                <a:spcPts val="6306"/>
              </a:lnSpc>
              <a:buFont typeface="Arial"/>
              <a:buChar char="•"/>
            </a:pPr>
            <a:r>
              <a:rPr lang="en-US" sz="450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CURRENT</a:t>
            </a:r>
          </a:p>
          <a:p>
            <a:pPr marL="972538" lvl="1" indent="-486269" algn="l">
              <a:lnSpc>
                <a:spcPts val="6306"/>
              </a:lnSpc>
              <a:buFont typeface="Arial"/>
              <a:buChar char="•"/>
            </a:pPr>
            <a:r>
              <a:rPr lang="en-US" sz="450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BATTERY HEALTH TEMPERATURE</a:t>
            </a:r>
          </a:p>
          <a:p>
            <a:pPr marL="994127" lvl="1" indent="-497064" algn="l">
              <a:lnSpc>
                <a:spcPts val="6446"/>
              </a:lnSpc>
              <a:buFont typeface="Arial"/>
              <a:buChar char="•"/>
            </a:pPr>
            <a:r>
              <a:rPr lang="en-US" sz="460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CHARGE CYCLE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37684" y="876300"/>
            <a:ext cx="15550316" cy="3962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 u="sng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IMPACT OF TEMPERATURE ON BATTERY AGEING</a:t>
            </a:r>
          </a:p>
          <a:p>
            <a:pPr algn="ctr">
              <a:lnSpc>
                <a:spcPts val="10500"/>
              </a:lnSpc>
              <a:spcBef>
                <a:spcPct val="0"/>
              </a:spcBef>
            </a:pPr>
            <a:endParaRPr lang="en-US" sz="7500" b="1" u="sng">
              <a:solidFill>
                <a:srgbClr val="0C3571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6646637" y="7544449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380007" y="9246682"/>
            <a:ext cx="3911463" cy="391146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228396" y="-502447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190255" y="-2871145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675104" y="4149414"/>
          <a:ext cx="10900312" cy="5758853"/>
        </p:xfrm>
        <a:graphic>
          <a:graphicData uri="http://schemas.openxmlformats.org/drawingml/2006/table">
            <a:tbl>
              <a:tblPr/>
              <a:tblGrid>
                <a:gridCol w="292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467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0–10°C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Factor 1.2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Cold, slower chemistry, higher resistance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27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10–20°C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Factor 1.1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Slightly cold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627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20–30°C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Factor 1.0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 Ideal range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254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30–40°C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Factor 1.4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Warm, faster aging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6279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40–50°C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Factor 2.0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0C3571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 Hot, aging doubles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46637" y="7544449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084378" y="9246682"/>
            <a:ext cx="3911463" cy="391146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228396" y="-502447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190255" y="-2871145"/>
            <a:ext cx="3911463" cy="3911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25403" y="1970014"/>
            <a:ext cx="12806197" cy="1462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46"/>
              </a:lnSpc>
              <a:spcBef>
                <a:spcPct val="0"/>
              </a:spcBef>
            </a:pPr>
            <a:r>
              <a:rPr lang="en-US" sz="8747" b="1" u="sng" dirty="0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REAL-TIME 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4788" y="4206211"/>
            <a:ext cx="19474129" cy="350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9142" lvl="1" indent="-434571" algn="l">
              <a:lnSpc>
                <a:spcPts val="5635"/>
              </a:lnSpc>
              <a:buFont typeface="Arial"/>
              <a:buChar char="•"/>
            </a:pPr>
            <a:r>
              <a:rPr lang="en-US" sz="4025" b="1" dirty="0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Continuously monitor battery parameters</a:t>
            </a:r>
          </a:p>
          <a:p>
            <a:pPr marL="869142" lvl="1" indent="-434571" algn="l">
              <a:lnSpc>
                <a:spcPts val="5635"/>
              </a:lnSpc>
              <a:buFont typeface="Arial"/>
              <a:buChar char="•"/>
            </a:pPr>
            <a:r>
              <a:rPr lang="en-US" sz="4025" b="1" dirty="0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Detect abnormal patterns early</a:t>
            </a:r>
          </a:p>
          <a:p>
            <a:pPr marL="869142" lvl="1" indent="-434571" algn="l">
              <a:lnSpc>
                <a:spcPts val="5635"/>
              </a:lnSpc>
              <a:buFont typeface="Arial"/>
              <a:buChar char="•"/>
            </a:pPr>
            <a:r>
              <a:rPr lang="en-US" sz="4025" b="1" dirty="0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Provide timely warnings to the driver</a:t>
            </a:r>
          </a:p>
          <a:p>
            <a:pPr marL="825963" lvl="1" indent="-412982" algn="l">
              <a:lnSpc>
                <a:spcPts val="5355"/>
              </a:lnSpc>
              <a:buFont typeface="Arial"/>
              <a:buChar char="•"/>
            </a:pPr>
            <a:r>
              <a:rPr lang="en-US" sz="3825" b="1" dirty="0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Estimate battery State of Health (SOH) accurately</a:t>
            </a:r>
          </a:p>
          <a:p>
            <a:pPr marL="869142" lvl="1" indent="-434571" algn="l">
              <a:lnSpc>
                <a:spcPts val="5635"/>
              </a:lnSpc>
              <a:buFont typeface="Arial"/>
              <a:buChar char="•"/>
            </a:pPr>
            <a:r>
              <a:rPr lang="en-US" sz="4025" b="1" dirty="0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Improve battery lifespan by preventing harmful conditions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1955731" y="8993184"/>
            <a:ext cx="3911463" cy="391146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557067" y="-23757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1549833" y="7957416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52709" y="2011451"/>
            <a:ext cx="13606591" cy="1482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45"/>
              </a:lnSpc>
              <a:spcBef>
                <a:spcPct val="0"/>
              </a:spcBef>
            </a:pPr>
            <a:r>
              <a:rPr lang="en-US" sz="8675" b="1" u="sng">
                <a:solidFill>
                  <a:srgbClr val="0C357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TECHNICAL INSIGHTS</a:t>
            </a:r>
          </a:p>
        </p:txBody>
      </p:sp>
      <p:sp>
        <p:nvSpPr>
          <p:cNvPr id="3" name="Freeform 3"/>
          <p:cNvSpPr/>
          <p:nvPr/>
        </p:nvSpPr>
        <p:spPr>
          <a:xfrm>
            <a:off x="16646637" y="7544449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380007" y="9246682"/>
            <a:ext cx="3911463" cy="391146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228396" y="-502447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190255" y="-2871145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2983" y="4429351"/>
            <a:ext cx="14924723" cy="4202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9576" lvl="1" indent="-519788" algn="l">
              <a:lnSpc>
                <a:spcPts val="6741"/>
              </a:lnSpc>
              <a:buFont typeface="Arial"/>
              <a:buChar char="•"/>
            </a:pPr>
            <a:r>
              <a:rPr lang="en-US" sz="4815" b="1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Prototype-based approach</a:t>
            </a:r>
          </a:p>
          <a:p>
            <a:pPr marL="1039576" lvl="1" indent="-519788" algn="l">
              <a:lnSpc>
                <a:spcPts val="6741"/>
              </a:lnSpc>
              <a:buFont typeface="Arial"/>
              <a:buChar char="•"/>
            </a:pPr>
            <a:r>
              <a:rPr lang="en-US" sz="4815" b="1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Uses sensor data for monitoring</a:t>
            </a:r>
          </a:p>
          <a:p>
            <a:pPr marL="1039576" lvl="1" indent="-519788" algn="l">
              <a:lnSpc>
                <a:spcPts val="6741"/>
              </a:lnSpc>
              <a:buFont typeface="Arial"/>
              <a:buChar char="•"/>
            </a:pPr>
            <a:r>
              <a:rPr lang="en-US" sz="4815" b="1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Focus on predictive analysis</a:t>
            </a:r>
          </a:p>
          <a:p>
            <a:pPr marL="1039576" lvl="1" indent="-519788" algn="l">
              <a:lnSpc>
                <a:spcPts val="6741"/>
              </a:lnSpc>
              <a:buFont typeface="Arial"/>
              <a:buChar char="•"/>
            </a:pPr>
            <a:r>
              <a:rPr lang="en-US" sz="4815" b="1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Designed for future scalability</a:t>
            </a:r>
          </a:p>
          <a:p>
            <a:pPr marL="1039576" lvl="1" indent="-519788" algn="l">
              <a:lnSpc>
                <a:spcPts val="6741"/>
              </a:lnSpc>
              <a:buFont typeface="Arial"/>
              <a:buChar char="•"/>
            </a:pPr>
            <a:r>
              <a:rPr lang="en-US" sz="4815" b="1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Can be extended to full vehicle health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99443" y="-1507086"/>
            <a:ext cx="3911463" cy="391146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096367" y="-170988"/>
            <a:ext cx="3451009" cy="3451009"/>
          </a:xfrm>
          <a:custGeom>
            <a:avLst/>
            <a:gdLst/>
            <a:ahLst/>
            <a:cxnLst/>
            <a:rect l="l" t="t" r="r" b="b"/>
            <a:pathLst>
              <a:path w="3451009" h="3451009">
                <a:moveTo>
                  <a:pt x="0" y="0"/>
                </a:moveTo>
                <a:lnTo>
                  <a:pt x="3451009" y="0"/>
                </a:lnTo>
                <a:lnTo>
                  <a:pt x="3451009" y="3451009"/>
                </a:lnTo>
                <a:lnTo>
                  <a:pt x="0" y="3451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393510" y="1893244"/>
            <a:ext cx="9750322" cy="8037536"/>
          </a:xfrm>
          <a:custGeom>
            <a:avLst/>
            <a:gdLst/>
            <a:ahLst/>
            <a:cxnLst/>
            <a:rect l="l" t="t" r="r" b="b"/>
            <a:pathLst>
              <a:path w="9750322" h="8037536">
                <a:moveTo>
                  <a:pt x="0" y="0"/>
                </a:moveTo>
                <a:lnTo>
                  <a:pt x="9750322" y="0"/>
                </a:lnTo>
                <a:lnTo>
                  <a:pt x="9750322" y="8037536"/>
                </a:lnTo>
                <a:lnTo>
                  <a:pt x="0" y="803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45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94776" y="-78550"/>
            <a:ext cx="6310917" cy="1633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13"/>
              </a:lnSpc>
              <a:spcBef>
                <a:spcPct val="0"/>
              </a:spcBef>
            </a:pPr>
            <a:r>
              <a:rPr lang="en-US" sz="9581" b="1" u="sng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473565" y="7975049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87138">
            <a:off x="-1204901" y="-110117"/>
            <a:ext cx="3032000" cy="3032000"/>
          </a:xfrm>
          <a:custGeom>
            <a:avLst/>
            <a:gdLst/>
            <a:ahLst/>
            <a:cxnLst/>
            <a:rect l="l" t="t" r="r" b="b"/>
            <a:pathLst>
              <a:path w="3032000" h="3032000">
                <a:moveTo>
                  <a:pt x="0" y="0"/>
                </a:moveTo>
                <a:lnTo>
                  <a:pt x="3032000" y="0"/>
                </a:lnTo>
                <a:lnTo>
                  <a:pt x="3032000" y="3032000"/>
                </a:lnTo>
                <a:lnTo>
                  <a:pt x="0" y="303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87138">
            <a:off x="-1989565" y="-343230"/>
            <a:ext cx="3032000" cy="3032000"/>
          </a:xfrm>
          <a:custGeom>
            <a:avLst/>
            <a:gdLst/>
            <a:ahLst/>
            <a:cxnLst/>
            <a:rect l="l" t="t" r="r" b="b"/>
            <a:pathLst>
              <a:path w="3032000" h="3032000">
                <a:moveTo>
                  <a:pt x="0" y="0"/>
                </a:moveTo>
                <a:lnTo>
                  <a:pt x="3032000" y="0"/>
                </a:lnTo>
                <a:lnTo>
                  <a:pt x="3032000" y="3032000"/>
                </a:lnTo>
                <a:lnTo>
                  <a:pt x="0" y="303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286593" y="7238410"/>
            <a:ext cx="3451009" cy="3451009"/>
          </a:xfrm>
          <a:custGeom>
            <a:avLst/>
            <a:gdLst/>
            <a:ahLst/>
            <a:cxnLst/>
            <a:rect l="l" t="t" r="r" b="b"/>
            <a:pathLst>
              <a:path w="3451009" h="3451009">
                <a:moveTo>
                  <a:pt x="0" y="0"/>
                </a:moveTo>
                <a:lnTo>
                  <a:pt x="3451009" y="0"/>
                </a:lnTo>
                <a:lnTo>
                  <a:pt x="3451009" y="3451009"/>
                </a:lnTo>
                <a:lnTo>
                  <a:pt x="0" y="3451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87138">
            <a:off x="15949083" y="8188306"/>
            <a:ext cx="3032000" cy="3032000"/>
          </a:xfrm>
          <a:custGeom>
            <a:avLst/>
            <a:gdLst/>
            <a:ahLst/>
            <a:cxnLst/>
            <a:rect l="l" t="t" r="r" b="b"/>
            <a:pathLst>
              <a:path w="3032000" h="3032000">
                <a:moveTo>
                  <a:pt x="0" y="0"/>
                </a:moveTo>
                <a:lnTo>
                  <a:pt x="3032000" y="0"/>
                </a:lnTo>
                <a:lnTo>
                  <a:pt x="3032000" y="3032000"/>
                </a:lnTo>
                <a:lnTo>
                  <a:pt x="0" y="303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87138">
            <a:off x="15743300" y="7730682"/>
            <a:ext cx="3032000" cy="3032000"/>
          </a:xfrm>
          <a:custGeom>
            <a:avLst/>
            <a:gdLst/>
            <a:ahLst/>
            <a:cxnLst/>
            <a:rect l="l" t="t" r="r" b="b"/>
            <a:pathLst>
              <a:path w="3032000" h="3032000">
                <a:moveTo>
                  <a:pt x="0" y="0"/>
                </a:moveTo>
                <a:lnTo>
                  <a:pt x="3032000" y="0"/>
                </a:lnTo>
                <a:lnTo>
                  <a:pt x="3032000" y="3032000"/>
                </a:lnTo>
                <a:lnTo>
                  <a:pt x="0" y="303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4855" y="1923686"/>
            <a:ext cx="15794445" cy="145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57"/>
              </a:lnSpc>
              <a:spcBef>
                <a:spcPct val="0"/>
              </a:spcBef>
            </a:pPr>
            <a:r>
              <a:rPr lang="en-US" sz="8612" b="1" u="sng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CONCLUSION &amp; LEARNINGS</a:t>
            </a:r>
          </a:p>
        </p:txBody>
      </p:sp>
      <p:sp>
        <p:nvSpPr>
          <p:cNvPr id="3" name="Freeform 3"/>
          <p:cNvSpPr/>
          <p:nvPr/>
        </p:nvSpPr>
        <p:spPr>
          <a:xfrm>
            <a:off x="16646637" y="7544449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380007" y="9246682"/>
            <a:ext cx="3911463" cy="391146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228396" y="-502447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190255" y="-2871145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46089" y="4515225"/>
            <a:ext cx="14261647" cy="3622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8644" lvl="1" indent="-449322" algn="l">
              <a:lnSpc>
                <a:spcPts val="5827"/>
              </a:lnSpc>
              <a:buFont typeface="Arial"/>
              <a:buChar char="•"/>
            </a:pPr>
            <a:r>
              <a:rPr lang="en-US" sz="4162" b="1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Battery health monitoring is critical for EV safety</a:t>
            </a:r>
          </a:p>
          <a:p>
            <a:pPr marL="898644" lvl="1" indent="-449322" algn="l">
              <a:lnSpc>
                <a:spcPts val="5827"/>
              </a:lnSpc>
              <a:buFont typeface="Arial"/>
              <a:buChar char="•"/>
            </a:pPr>
            <a:r>
              <a:rPr lang="en-US" sz="4162" b="1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Predictive systems can reduce unexpected failures</a:t>
            </a:r>
          </a:p>
          <a:p>
            <a:pPr marL="898644" lvl="1" indent="-449322" algn="l">
              <a:lnSpc>
                <a:spcPts val="5827"/>
              </a:lnSpc>
              <a:buFont typeface="Arial"/>
              <a:buChar char="•"/>
            </a:pPr>
            <a:r>
              <a:rPr lang="en-US" sz="4162" b="1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Temperature plays a major role in battery aging</a:t>
            </a:r>
          </a:p>
          <a:p>
            <a:pPr marL="898644" lvl="1" indent="-449322" algn="l">
              <a:lnSpc>
                <a:spcPts val="5827"/>
              </a:lnSpc>
              <a:buFont typeface="Arial"/>
              <a:buChar char="•"/>
            </a:pPr>
            <a:r>
              <a:rPr lang="en-US" sz="4162" b="1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Simple data can provide powerful insights</a:t>
            </a:r>
          </a:p>
          <a:p>
            <a:pPr marL="898644" lvl="1" indent="-449322" algn="l">
              <a:lnSpc>
                <a:spcPts val="5827"/>
              </a:lnSpc>
              <a:buFont typeface="Arial"/>
              <a:buChar char="•"/>
            </a:pPr>
            <a:r>
              <a:rPr lang="en-US" sz="4162" b="1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Scope for further expansion and improvement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136559"/>
            <a:ext cx="4033204" cy="403320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057400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753637" y="4091956"/>
            <a:ext cx="8780727" cy="189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29"/>
              </a:lnSpc>
              <a:spcBef>
                <a:spcPct val="0"/>
              </a:spcBef>
            </a:pPr>
            <a:r>
              <a:rPr lang="en-US" sz="11092" b="1" u="sng">
                <a:solidFill>
                  <a:srgbClr val="0C3571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THANK YOU!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528367" y="-230088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883533" y="-1945715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296500" y="-1532748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-666465" y="7844305"/>
            <a:ext cx="3911463" cy="391146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362</Words>
  <Application>Microsoft Office PowerPoint</Application>
  <PresentationFormat>Custom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Open Sans 1 Bold</vt:lpstr>
      <vt:lpstr>Calibri</vt:lpstr>
      <vt:lpstr>Arial</vt:lpstr>
      <vt:lpstr>Nunito Bold</vt:lpstr>
      <vt:lpstr>Tomorrow</vt:lpstr>
      <vt:lpstr>Nunito</vt:lpstr>
      <vt:lpstr>Open Sans 2 Bold</vt:lpstr>
      <vt:lpstr>Proxima Nova Bold</vt:lpstr>
      <vt:lpstr>Arial MT Pro Italics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MANAGEMENT SYSTEM (BMS)</dc:title>
  <dc:creator>suhani shrivastava</dc:creator>
  <cp:lastModifiedBy>suhani shrivastava</cp:lastModifiedBy>
  <cp:revision>3</cp:revision>
  <dcterms:created xsi:type="dcterms:W3CDTF">2006-08-16T00:00:00Z</dcterms:created>
  <dcterms:modified xsi:type="dcterms:W3CDTF">2026-04-22T16:37:37Z</dcterms:modified>
  <dc:identifier>DAHHlpf51co</dc:identifier>
</cp:coreProperties>
</file>